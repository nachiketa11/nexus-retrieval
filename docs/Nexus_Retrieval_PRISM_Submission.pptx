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16C8BC-02FB-4756-BB43-5F2FAF19D983}" v="2" dt="2026-09-30T14:12:02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ay Sharma" userId="eb3bba6052825eb5" providerId="LiveId" clId="{A23C242E-4522-4C74-A9C4-AA7914196B0E}"/>
    <pc:docChg chg="custSel modSld">
      <pc:chgData name="Lakshay Sharma" userId="eb3bba6052825eb5" providerId="LiveId" clId="{A23C242E-4522-4C74-A9C4-AA7914196B0E}" dt="2026-09-30T14:14:53.036" v="204" actId="20577"/>
      <pc:docMkLst>
        <pc:docMk/>
      </pc:docMkLst>
      <pc:sldChg chg="modSp mod">
        <pc:chgData name="Lakshay Sharma" userId="eb3bba6052825eb5" providerId="LiveId" clId="{A23C242E-4522-4C74-A9C4-AA7914196B0E}" dt="2026-09-30T14:14:53.036" v="204" actId="20577"/>
        <pc:sldMkLst>
          <pc:docMk/>
          <pc:sldMk cId="0" sldId="256"/>
        </pc:sldMkLst>
        <pc:spChg chg="mod">
          <ac:chgData name="Lakshay Sharma" userId="eb3bba6052825eb5" providerId="LiveId" clId="{A23C242E-4522-4C74-A9C4-AA7914196B0E}" dt="2026-09-30T14:14:53.036" v="204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201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371600" cy="2743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Edition  </a:t>
            </a:r>
            <a:r>
              <a:rPr lang="en-US" sz="13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27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603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ID - Agentic Code Intelligence (Nexus Retrieval)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</a:t>
            </a:r>
            <a:r>
              <a:rPr lang="en-US" sz="1050" dirty="0" err="1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Delulu</a:t>
            </a: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– SRM INSTITUTE OF SCIENCE AND TECHNOLOGY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1 – Nachiketa Sharma, ns5949@srmist.edu.in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2 – Ayush Kulshreshtha, ak4810@srmist.edu.in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3 – Lakshay Sharma, ls7972@srmist.edu.in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4 – Ishaan Srivastava</a:t>
            </a:r>
            <a:r>
              <a:rPr lang="en-US" sz="105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is0270@srmist</a:t>
            </a: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.edu.in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Github link - github.com/nachiketa11/nexus-retrieval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0" y="731520"/>
            <a:ext cx="3749040" cy="3749040"/>
          </a:xfrm>
          <a:prstGeom prst="ellipse">
            <a:avLst/>
          </a:prstGeom>
          <a:ln w="9525">
            <a:solidFill>
              <a:srgbClr val="E6E6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1417320"/>
            <a:ext cx="2377440" cy="2377440"/>
          </a:xfrm>
          <a:prstGeom prst="ellipse">
            <a:avLst/>
          </a:prstGeom>
          <a:ln w="9525">
            <a:solidFill>
              <a:srgbClr val="E6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920240"/>
            <a:ext cx="1371600" cy="1371600"/>
          </a:xfrm>
          <a:prstGeom prst="ellipse">
            <a:avLst/>
          </a:prstGeom>
          <a:solidFill>
            <a:srgbClr val="6D28D9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17498" y="1668780"/>
            <a:ext cx="3497902" cy="937260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76508" y="2957331"/>
            <a:ext cx="487754" cy="585969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6270" y="1554630"/>
            <a:ext cx="1491870" cy="2674792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58639" y="2212470"/>
            <a:ext cx="382241" cy="2268090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03620" y="4229422"/>
            <a:ext cx="937260" cy="251138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417498" y="982658"/>
            <a:ext cx="686122" cy="2560642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2606040"/>
            <a:ext cx="2429130" cy="1051410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5417498" y="1470412"/>
            <a:ext cx="1974673" cy="198368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03620" y="982658"/>
            <a:ext cx="1330830" cy="1241141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103620" y="731520"/>
            <a:ext cx="937260" cy="3497902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731520"/>
            <a:ext cx="937260" cy="251138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6689589" y="1668780"/>
            <a:ext cx="1974673" cy="2072888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290" y="2051430"/>
            <a:ext cx="84218" cy="905901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7595490" y="2606040"/>
            <a:ext cx="1319910" cy="1051410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17498" y="3543300"/>
            <a:ext cx="1272091" cy="198368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5989470" y="982658"/>
            <a:ext cx="1988670" cy="2177992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05252" y="2254749"/>
            <a:ext cx="84218" cy="905901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6270" y="1554630"/>
            <a:ext cx="936851" cy="1444980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92171" y="1470412"/>
            <a:ext cx="1272091" cy="2072888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166360" y="2051430"/>
            <a:ext cx="2925930" cy="554610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7423121" y="1668780"/>
            <a:ext cx="1241141" cy="1330830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05252" y="2254749"/>
            <a:ext cx="742057" cy="733532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647310" y="2212470"/>
            <a:ext cx="11329" cy="775811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34450" y="2223799"/>
            <a:ext cx="543690" cy="2005623"/>
          </a:xfrm>
          <a:prstGeom prst="line">
            <a:avLst/>
          </a:prstGeom>
          <a:noFill/>
          <a:ln w="6350">
            <a:solidFill>
              <a:srgbClr val="D9D4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51392" y="254203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35" name="Shape 33"/>
          <p:cNvSpPr/>
          <p:nvPr/>
        </p:nvSpPr>
        <p:spPr>
          <a:xfrm>
            <a:off x="8600254" y="347929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36" name="Shape 34"/>
          <p:cNvSpPr/>
          <p:nvPr/>
        </p:nvSpPr>
        <p:spPr>
          <a:xfrm>
            <a:off x="7914132" y="4165414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37" name="Shape 35"/>
          <p:cNvSpPr/>
          <p:nvPr/>
        </p:nvSpPr>
        <p:spPr>
          <a:xfrm>
            <a:off x="6976872" y="441655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38" name="Shape 36"/>
          <p:cNvSpPr/>
          <p:nvPr/>
        </p:nvSpPr>
        <p:spPr>
          <a:xfrm>
            <a:off x="6039612" y="4165414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39" name="Shape 37"/>
          <p:cNvSpPr/>
          <p:nvPr/>
        </p:nvSpPr>
        <p:spPr>
          <a:xfrm>
            <a:off x="5353490" y="347929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40" name="Shape 38"/>
          <p:cNvSpPr/>
          <p:nvPr/>
        </p:nvSpPr>
        <p:spPr>
          <a:xfrm>
            <a:off x="5102352" y="254203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41" name="Shape 39"/>
          <p:cNvSpPr/>
          <p:nvPr/>
        </p:nvSpPr>
        <p:spPr>
          <a:xfrm>
            <a:off x="5353490" y="160477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42" name="Shape 40"/>
          <p:cNvSpPr/>
          <p:nvPr/>
        </p:nvSpPr>
        <p:spPr>
          <a:xfrm>
            <a:off x="6039612" y="918650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43" name="Shape 41"/>
          <p:cNvSpPr/>
          <p:nvPr/>
        </p:nvSpPr>
        <p:spPr>
          <a:xfrm>
            <a:off x="6976872" y="66751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44" name="Shape 42"/>
          <p:cNvSpPr/>
          <p:nvPr/>
        </p:nvSpPr>
        <p:spPr>
          <a:xfrm>
            <a:off x="7914132" y="918650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45" name="Shape 43"/>
          <p:cNvSpPr/>
          <p:nvPr/>
        </p:nvSpPr>
        <p:spPr>
          <a:xfrm>
            <a:off x="8600254" y="1604772"/>
            <a:ext cx="128016" cy="128016"/>
          </a:xfrm>
          <a:prstGeom prst="ellipse">
            <a:avLst/>
          </a:prstGeom>
          <a:solidFill>
            <a:srgbClr val="63B8B0"/>
          </a:solidFill>
          <a:ln/>
        </p:spPr>
      </p:sp>
      <p:sp>
        <p:nvSpPr>
          <p:cNvPr id="46" name="Shape 44"/>
          <p:cNvSpPr/>
          <p:nvPr/>
        </p:nvSpPr>
        <p:spPr>
          <a:xfrm>
            <a:off x="8094212" y="2875035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47" name="Shape 45"/>
          <p:cNvSpPr/>
          <p:nvPr/>
        </p:nvSpPr>
        <p:spPr>
          <a:xfrm>
            <a:off x="7513194" y="3575154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48" name="Shape 46"/>
          <p:cNvSpPr/>
          <p:nvPr/>
        </p:nvSpPr>
        <p:spPr>
          <a:xfrm>
            <a:off x="6607293" y="3659372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49" name="Shape 47"/>
          <p:cNvSpPr/>
          <p:nvPr/>
        </p:nvSpPr>
        <p:spPr>
          <a:xfrm>
            <a:off x="5907174" y="3078354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50" name="Shape 48"/>
          <p:cNvSpPr/>
          <p:nvPr/>
        </p:nvSpPr>
        <p:spPr>
          <a:xfrm>
            <a:off x="5822956" y="2172453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51" name="Shape 49"/>
          <p:cNvSpPr/>
          <p:nvPr/>
        </p:nvSpPr>
        <p:spPr>
          <a:xfrm>
            <a:off x="6403974" y="1472334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52" name="Shape 50"/>
          <p:cNvSpPr/>
          <p:nvPr/>
        </p:nvSpPr>
        <p:spPr>
          <a:xfrm>
            <a:off x="7309875" y="1388116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53" name="Shape 51"/>
          <p:cNvSpPr/>
          <p:nvPr/>
        </p:nvSpPr>
        <p:spPr>
          <a:xfrm>
            <a:off x="8009994" y="1969134"/>
            <a:ext cx="164592" cy="164592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54" name="Shape 52"/>
          <p:cNvSpPr/>
          <p:nvPr/>
        </p:nvSpPr>
        <p:spPr>
          <a:xfrm>
            <a:off x="7322537" y="2899026"/>
            <a:ext cx="201168" cy="20116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5" name="Shape 53"/>
          <p:cNvSpPr/>
          <p:nvPr/>
        </p:nvSpPr>
        <p:spPr>
          <a:xfrm>
            <a:off x="6546726" y="2887697"/>
            <a:ext cx="201168" cy="20116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6" name="Shape 54"/>
          <p:cNvSpPr/>
          <p:nvPr/>
        </p:nvSpPr>
        <p:spPr>
          <a:xfrm>
            <a:off x="6558055" y="2111886"/>
            <a:ext cx="201168" cy="20116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7" name="Shape 55"/>
          <p:cNvSpPr/>
          <p:nvPr/>
        </p:nvSpPr>
        <p:spPr>
          <a:xfrm>
            <a:off x="7333866" y="2123215"/>
            <a:ext cx="201168" cy="20116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58" name="Shape 56"/>
          <p:cNvSpPr/>
          <p:nvPr/>
        </p:nvSpPr>
        <p:spPr>
          <a:xfrm>
            <a:off x="6839712" y="240487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49440" y="2514600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Code Intelligence: natural-language query → ranked code snippets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“Developers can describe what they need without knowing the exact API, symbol or file. Keyword search misses semantic intent; pure semantic search misses exact identifiers. The result is time lost navigating large codebases.”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918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accuracy is the P0 objective. Benchmark: CoIR AppsRetrieval (test split).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600200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→ ranked code snippets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NDCG@10, 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Recall@10, Recall@100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across code versions; rebuildable indexes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Near-duplicate / evolutionary awareness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CPU-friendly, minimal GPU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Gaps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approach solves a different failure mode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/ grep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and precise for known names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when intent is described without identifiers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lexical / identifier matching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miss semantic equivalence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vector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semantic intent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miss exact API / symbol 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code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Convenient repository 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benchmark-focused hybrid or version-aware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code assistants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generation / explanation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prove retrieved evidence was the most relevant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gap: exact search, semantic search, fusion, final ranking and version context are rarely combined in one measurable pipeline. Nexus does exactly that.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&amp; Architecture Diagram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retrieval: two complementary branches → fusion → reranking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(natural language)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1488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6459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E5 + FAISS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974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63B8B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1488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fusion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1488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4884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45920" y="2423160"/>
            <a:ext cx="274320" cy="0"/>
          </a:xfrm>
          <a:prstGeom prst="line">
            <a:avLst/>
          </a:prstGeom>
          <a:noFill/>
          <a:ln w="15875">
            <a:solidFill>
              <a:srgbClr val="5F5F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3017520" y="1920240"/>
            <a:ext cx="365760" cy="411480"/>
          </a:xfrm>
          <a:prstGeom prst="line">
            <a:avLst/>
          </a:prstGeom>
          <a:noFill/>
          <a:ln w="15875">
            <a:solidFill>
              <a:srgbClr val="5F5F7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17520" y="2514600"/>
            <a:ext cx="365760" cy="411480"/>
          </a:xfrm>
          <a:prstGeom prst="line">
            <a:avLst/>
          </a:prstGeom>
          <a:noFill/>
          <a:ln w="15875">
            <a:solidFill>
              <a:srgbClr val="5F5F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63440" y="1920240"/>
            <a:ext cx="365760" cy="365760"/>
          </a:xfrm>
          <a:prstGeom prst="line">
            <a:avLst/>
          </a:prstGeom>
          <a:noFill/>
          <a:ln w="15875">
            <a:solidFill>
              <a:srgbClr val="5F5F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4663440" y="2560320"/>
            <a:ext cx="365760" cy="365760"/>
          </a:xfrm>
          <a:prstGeom prst="line">
            <a:avLst/>
          </a:prstGeom>
          <a:noFill/>
          <a:ln w="15875">
            <a:solidFill>
              <a:srgbClr val="5F5F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423160"/>
            <a:ext cx="274320" cy="0"/>
          </a:xfrm>
          <a:prstGeom prst="line">
            <a:avLst/>
          </a:prstGeom>
          <a:noFill/>
          <a:ln w="15875">
            <a:solidFill>
              <a:srgbClr val="5F5F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80960" y="2423160"/>
            <a:ext cx="182880" cy="0"/>
          </a:xfrm>
          <a:prstGeom prst="line">
            <a:avLst/>
          </a:prstGeom>
          <a:noFill/>
          <a:ln w="15875">
            <a:solidFill>
              <a:srgbClr val="5F5F7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57200" y="3383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Dense: intfloat/e5-base-v2 with query:/passage: prefixes, normalized embeddings, FAISS inner-product search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exact terms, API names, identifiers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RRF: merges rankings without comparable scores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Reranker: ms-marco-MiniLM-L-6-v2 on a small top-K candidate set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Version-aware metadata layer for the Samsung product demo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33756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23560" y="3447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index build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749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stable IDs → E5 passage embeddings → FAISS + BM25 + metadata (version / language). Embeddings cached locally; deterministic rebuilds.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Product Walkthrough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→ Query → Retrieve → Rank → Serve (CLI / API / demo)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→ chunks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55448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3B5BD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155448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63B8B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BM25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532120" y="155448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+ reranker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55448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1A1A2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API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4206240" cy="178612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beat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without exact file /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+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Natural-language request → ranked snippets + metadata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/ BM25 complement + reranking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Version-aware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/ metadata 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NDCG@10, MRR, Recall,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937760" y="2377440"/>
            <a:ext cx="3749040" cy="2103120"/>
          </a:xfrm>
          <a:prstGeom prst="roundRect">
            <a:avLst>
              <a:gd name="adj" fmla="val 3478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4920" y="2487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Tough-query result  [insert from final run]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74920" y="2788920"/>
            <a:ext cx="3474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[paste hard natural-language query]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ranked snippets: [paste ID + snippet + score]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BM25-only vs Dense-only vs Hybrid+rerank rank of the correct answer: [paste]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Stack Used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/ experiments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Transformers + E5-base-v2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semantic representation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(CPU)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semantic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/ identifier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ms-marco-MiniLM-L-6-v2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candidate 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/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MTEB / CoIR AppsRetrieval (HF)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Queries, corpus, qrels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pytest, NumPy/SciPy/scikit-learn, psutil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Validation, evaluation, resource measurement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GitHub; FastAPI + Docker (planned)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release, API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natural-language intent into ranked code evidence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09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discovery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code using a capability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709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repositories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implementation of a behavior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709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3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code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behaviorally similar 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898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migration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old / new API usage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27889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2898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exploration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examples from a concept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7889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2898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3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similar / near-duplicate code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codebase search time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recall without exact identifiers, exact-term matching preserved via BM25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quality through a standard benchmark; foundation for developer agents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Highlights, Results &amp; Limitations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23774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dense + BM25 evidence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ranking (retrieve → rerank)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Version-aware metadata context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IDs, configs, cached rebuilds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CPU-friendly core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28016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(CoIR AppsRetrieval test: 8,765 queries / 8,765 docs)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554480"/>
          <a:ext cx="539496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+ rerank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91840" y="306324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mitigations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347472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CPU encoding is slow → persistent caching; reranking adds latency → top-K control; benchmark ≠ every codebase → benchmark/demo kept separate; latency reported with test hardware.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to finish and harden the submission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20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when…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Hybrid RRF + reranker evaluated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+ lexical + final ranking 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benchmark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NDCG / MRR / Recall + latency &amp; memory captured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Version-aware demo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version example with visible ranking behavior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interface + README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/ API / demo documented; fresh setup reproduces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 min, real working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release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tagged commit, no secrets or giant caches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Beyond: production hardening (FastAPI + Docker) and evolutionary / near-duplicate-aware retrieval for code evolution.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Slide (Differentiation)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intelligence + measurable retrieval + version-aware context + reproducible engineering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01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Retrieval-first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the evidence-finding stage directly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801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semantics + BM25 exact evidence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8013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3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ranking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1031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candidates, stronger final order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Version-aware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520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/ context as retrieval signal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31089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discipline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3520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benchmark separate from demo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31089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0FF"/>
          </a:solidFill>
          <a:ln w="9525">
            <a:solidFill>
              <a:srgbClr val="E4DD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3218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3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&amp; CPU-friendly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5204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IDs, configs, tests, no big GPU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code chatbot. A measurable retrieval layer.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D5CC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PRISM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– Updated on Public GitHub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Retrieval  |  Generative AI Hackathon 3rd Edition 2026–27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5544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Y/N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prototype code – public / shared GitHub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github.com/nachiketa11/nexus-retrieval (final push to confirm)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 with reproducible setup 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[Y/N]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Install, dataset, indexing, evaluation, demo/API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video, max 5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[link]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or Drive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file (PPT or PDF)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F5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D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the right code before you generate the next line.”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github.com/nachiketa11/nexus-retrieval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the Language AI Team and the PRISM Team, Samsung R&amp;D Institute India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1283</Words>
  <Application>Microsoft Office PowerPoint</Application>
  <PresentationFormat>On-screen Show (16:9)</PresentationFormat>
  <Paragraphs>281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Lakshay Sharma</cp:lastModifiedBy>
  <cp:revision>1</cp:revision>
  <dcterms:created xsi:type="dcterms:W3CDTF">2026-09-30T04:40:08Z</dcterms:created>
  <dcterms:modified xsi:type="dcterms:W3CDTF">2026-09-30T14:14:56Z</dcterms:modified>
</cp:coreProperties>
</file>